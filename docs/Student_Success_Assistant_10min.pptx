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Same model, two populations (test presentation)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B45309"/>
            </a:solidFill>
          </c:spPr>
          <c:cat>
            <c:strRef>
              <c:f>Sheet1!$A$2:$A$3</c:f>
              <c:strCache>
                <c:ptCount val="2"/>
                <c:pt idx="0">
                  <c:v>All enrolments (incl. already left)</c:v>
                </c:pt>
                <c:pt idx="1">
                  <c:v>Still enrolled (valid)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0.7493848462743269</c:v>
                </c:pt>
                <c:pt idx="1">
                  <c:v>0.7255685308195328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Observed withdrawal rate by risk tier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withdrawal rate</c:v>
                </c:pt>
              </c:strCache>
            </c:strRef>
          </c:tx>
          <c:spPr>
            <a:solidFill>
              <a:srgbClr val="B91C1C"/>
            </a:solidFill>
          </c:spPr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0.23588205897051473</c:v>
                </c:pt>
                <c:pt idx="1">
                  <c:v>0.11739502999143102</c:v>
                </c:pt>
                <c:pt idx="2">
                  <c:v>0.0487382483918852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Withdrawal model by course week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1F2A44"/>
            </a:solidFill>
          </c:spPr>
          <c:cat>
            <c:strRef>
              <c:f>Sheet1!$A$2:$A$5</c:f>
              <c:strCache>
                <c:ptCount val="4"/>
                <c:pt idx="0">
                  <c:v>week 6</c:v>
                </c:pt>
                <c:pt idx="1">
                  <c:v>week 9</c:v>
                </c:pt>
                <c:pt idx="2">
                  <c:v>week 15</c:v>
                </c:pt>
                <c:pt idx="3">
                  <c:v>week 22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0.6861329556239586</c:v>
                </c:pt>
                <c:pt idx="1">
                  <c:v>0.7003070619008248</c:v>
                </c:pt>
                <c:pt idx="2">
                  <c:v>0.7255685308195328</c:v>
                </c:pt>
                <c:pt idx="3">
                  <c:v>0.773455500635073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4C4BC2"/>
            </a:solidFill>
          </c:spPr>
          <c:cat>
            <c:strRef>
              <c:f>Sheet1!$A$2:$A$5</c:f>
              <c:strCache>
                <c:ptCount val="4"/>
                <c:pt idx="0">
                  <c:v>week 6</c:v>
                </c:pt>
                <c:pt idx="1">
                  <c:v>week 9</c:v>
                </c:pt>
                <c:pt idx="2">
                  <c:v>week 15</c:v>
                </c:pt>
                <c:pt idx="3">
                  <c:v>week 22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0.31596324382933005</c:v>
                </c:pt>
                <c:pt idx="1">
                  <c:v>0.2893076585124664</c:v>
                </c:pt>
                <c:pt idx="2">
                  <c:v>0.26301911267610545</c:v>
                </c:pt>
                <c:pt idx="3">
                  <c:v>0.1759725473938002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Base rate</c:v>
                </c:pt>
              </c:strCache>
            </c:strRef>
          </c:tx>
          <c:spPr>
            <a:solidFill>
              <a:srgbClr val="9AA2B1"/>
            </a:solidFill>
          </c:spPr>
          <c:cat>
            <c:strRef>
              <c:f>Sheet1!$A$2:$A$5</c:f>
              <c:strCache>
                <c:ptCount val="4"/>
                <c:pt idx="0">
                  <c:v>week 6</c:v>
                </c:pt>
                <c:pt idx="1">
                  <c:v>week 9</c:v>
                </c:pt>
                <c:pt idx="2">
                  <c:v>week 15</c:v>
                </c:pt>
                <c:pt idx="3">
                  <c:v>week 22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0.1791077738515901</c:v>
                </c:pt>
                <c:pt idx="1">
                  <c:v>0.1500114337983078</c:v>
                </c:pt>
                <c:pt idx="2">
                  <c:v>0.11257013250567029</c:v>
                </c:pt>
                <c:pt idx="3">
                  <c:v>0.05815279361459521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Gap in fail/withdraw rate between best and worst quintile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Spread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Sheet1!$A$2:$A$8</c:f>
              <c:strCache>
                <c:ptCount val="7"/>
                <c:pt idx="0">
                  <c:v>Inactive weeks (last 3)</c:v>
                </c:pt>
                <c:pt idx="1">
                  <c:v>Active-days percentile in cohort</c:v>
                </c:pt>
                <c:pt idx="2">
                  <c:v>Days since last VLE activity</c:v>
                </c:pt>
                <c:pt idx="3">
                  <c:v>Missed-assessment percentile in cohort</c:v>
                </c:pt>
                <c:pt idx="4">
                  <c:v>Tutor-marked assignments missed</c:v>
                </c:pt>
                <c:pt idx="5">
                  <c:v>Missed assessments</c:v>
                </c:pt>
                <c:pt idx="6">
                  <c:v>Share of due assessments missed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0.6253116780955257</c:v>
                </c:pt>
                <c:pt idx="1">
                  <c:v>0.6476530005941771</c:v>
                </c:pt>
                <c:pt idx="2">
                  <c:v>0.6497326203208555</c:v>
                </c:pt>
                <c:pt idx="3">
                  <c:v>0.6799657266661898</c:v>
                </c:pt>
                <c:pt idx="4">
                  <c:v>0.6856803327391563</c:v>
                </c:pt>
                <c:pt idx="5">
                  <c:v>0.7002376708259062</c:v>
                </c:pt>
                <c:pt idx="6">
                  <c:v>0.7061794414735592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Do retrieved precedents predict the real outcome?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Neighbour-vote AUC</c:v>
                </c:pt>
              </c:strCache>
            </c:strRef>
          </c:tx>
          <c:spPr>
            <a:solidFill>
              <a:srgbClr val="1F2A44"/>
            </a:solidFill>
          </c:spPr>
          <c:cat>
            <c:strRef>
              <c:f>Sheet1!$A$2:$A$6</c:f>
              <c:strCache>
                <c:ptCount val="5"/>
                <c:pt idx="0">
                  <c:v>hybrid</c:v>
                </c:pt>
                <c:pt idx="1">
                  <c:v>behavioural</c:v>
                </c:pt>
                <c:pt idx="2">
                  <c:v>lexical</c:v>
                </c:pt>
                <c:pt idx="3">
                  <c:v>dense</c:v>
                </c:pt>
                <c:pt idx="4">
                  <c:v>random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0.8349760765550238</c:v>
                </c:pt>
                <c:pt idx="1">
                  <c:v>0.8292404306220096</c:v>
                </c:pt>
                <c:pt idx="2">
                  <c:v>0.8364712918660288</c:v>
                </c:pt>
                <c:pt idx="3">
                  <c:v>0.7747547846889953</c:v>
                </c:pt>
                <c:pt idx="4">
                  <c:v>0.5120334928229665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nDCG@10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Sheet1!$A$2:$A$6</c:f>
              <c:strCache>
                <c:ptCount val="5"/>
                <c:pt idx="0">
                  <c:v>hybrid</c:v>
                </c:pt>
                <c:pt idx="1">
                  <c:v>behavioural</c:v>
                </c:pt>
                <c:pt idx="2">
                  <c:v>lexical</c:v>
                </c:pt>
                <c:pt idx="3">
                  <c:v>dense</c:v>
                </c:pt>
                <c:pt idx="4">
                  <c:v>random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0.8661044770467098</c:v>
                </c:pt>
                <c:pt idx="1">
                  <c:v>0.8703634727791237</c:v>
                </c:pt>
                <c:pt idx="2">
                  <c:v>0.7541412072228056</c:v>
                </c:pt>
                <c:pt idx="3">
                  <c:v>0.7235297564802611</c:v>
                </c:pt>
                <c:pt idx="4">
                  <c:v>0.5441068784899428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Share of contacted students who went on to fail or withdraw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 @10%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Sheet1!$A$2:$A$5</c:f>
              <c:strCache>
                <c:ptCount val="4"/>
                <c:pt idx="0">
                  <c:v>Learned</c:v>
                </c:pt>
                <c:pt idx="1">
                  <c:v>v4 formula</c:v>
                </c:pt>
                <c:pt idx="2">
                  <c:v>Risk only</c:v>
                </c:pt>
                <c:pt idx="3">
                  <c:v>Random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0.9785202863961814</c:v>
                </c:pt>
                <c:pt idx="1">
                  <c:v>0.8448687350835322</c:v>
                </c:pt>
                <c:pt idx="2">
                  <c:v>0.7804295942720764</c:v>
                </c:pt>
                <c:pt idx="3">
                  <c:v>0.3436754176610978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 @20%</c:v>
                </c:pt>
              </c:strCache>
            </c:strRef>
          </c:tx>
          <c:spPr>
            <a:solidFill>
              <a:srgbClr val="64748B"/>
            </a:solidFill>
          </c:spPr>
          <c:cat>
            <c:strRef>
              <c:f>Sheet1!$A$2:$A$5</c:f>
              <c:strCache>
                <c:ptCount val="4"/>
                <c:pt idx="0">
                  <c:v>Learned</c:v>
                </c:pt>
                <c:pt idx="1">
                  <c:v>v4 formula</c:v>
                </c:pt>
                <c:pt idx="2">
                  <c:v>Risk only</c:v>
                </c:pt>
                <c:pt idx="3">
                  <c:v>Random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0.8543283582089553</c:v>
                </c:pt>
                <c:pt idx="1">
                  <c:v>0.7534328358208955</c:v>
                </c:pt>
                <c:pt idx="2">
                  <c:v>0.7026865671641791</c:v>
                </c:pt>
                <c:pt idx="3">
                  <c:v>0.35880597014925375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Difference in true-positive rate between groups (High tier)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Equal-opportunity gap</c:v>
                </c:pt>
              </c:strCache>
            </c:strRef>
          </c:tx>
          <c:spPr>
            <a:solidFill>
              <a:srgbClr val="B45309"/>
            </a:solidFill>
          </c:spPr>
          <c:cat>
            <c:strRef>
              <c:f>Sheet1!$A$2:$A$7</c:f>
              <c:strCache>
                <c:ptCount val="6"/>
                <c:pt idx="0">
                  <c:v>gender</c:v>
                </c:pt>
                <c:pt idx="1">
                  <c:v>region</c:v>
                </c:pt>
                <c:pt idx="2">
                  <c:v>highest_education</c:v>
                </c:pt>
                <c:pt idx="3">
                  <c:v>imd_band</c:v>
                </c:pt>
                <c:pt idx="4">
                  <c:v>age_band</c:v>
                </c:pt>
                <c:pt idx="5">
                  <c:v>disability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0.08185386949783308</c:v>
                </c:pt>
                <c:pt idx="1">
                  <c:v>0.26456876456876455</c:v>
                </c:pt>
                <c:pt idx="2">
                  <c:v>0.04301468100940392</c:v>
                </c:pt>
                <c:pt idx="3">
                  <c:v>0.1949308755760369</c:v>
                </c:pt>
                <c:pt idx="4">
                  <c:v>0.04795587419451197</c:v>
                </c:pt>
                <c:pt idx="5">
                  <c:v>0.23212560386473435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Ten-minute walkthrough: the problem, how the system works, honest evidence, and how it stays safe and improves.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 around the advisor at week 15: who still enrolled needs help, why, and what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Offline build produces calibrated models, the case index and evaluation; the online API serves lookups, scores, retrieval and the agent workflow; feedback closes the loop with human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v4 trained and tested on students who had already left, so silence in the logs 'predicted' withdrawal. We score only students still enrolled, on a later, untouched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ROC-AUC with CI, the logistic baseline, calibration, and that tiers really separate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calibrated models at four points in the course; each is tested on the later, untouched presentation using only what was known at that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Factor analysis on historical in-scope students; associations not causes. TreeSHAP gives per-student drivers.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Behavioural kNN weighted by model attributions + BM25 over qualitative descriptors (+ optional dense). Only earlier presentations are searchable. Evaluated against real outcomes and a random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Weights chosen on the validation presentation to maximise precision at 10/20/30% capacity; compared on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Agents select and narrate ID-tagged evidence; actions come from an eligibility-gated catalogue; the critic enforces guardrails in code with one revision, else a deterministic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React console served by the FastAPI service. Walk through: course clock, why flagged, risk across the course, live agent plan, outreach rewriting, precedents with what happened next,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Gaps remain via proxies; they are flagged by the gate and need institutional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Feedback becomes versioned, human-approved changes; then re-evaluate.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AI-powered Student Success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E2E8F0"/>
                </a:solidFill>
              </a:rPr>
              <a:t>Early warning, comparable historical cases and supportive action plans for advisors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2E8F0"/>
                </a:solidFill>
              </a:rPr>
              <a:t>OULAD · 32,593 enrolments · evidence profile: official · quality gate passed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The question an advisor actually 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At ~40% of the course, which students who are still enrolled are likely to fail or withdraw?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Why — in terms an advisor can act on?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Have students with similar patterns struggled before?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What supportive, non-punitive action should we take, and who first given limited capacity?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14630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0">
                <a:solidFill>
                  <a:srgbClr val="0F766E"/>
                </a:solidFill>
              </a:rPr>
              <a:t>25,204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2240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</a:rPr>
              <a:t>students still enrolled at the snapshot (in scope)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14630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0">
                <a:solidFill>
                  <a:srgbClr val="B45309"/>
                </a:solidFill>
              </a:rPr>
              <a:t>7,389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2240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</a:rPr>
              <a:t>had already unregistered — excluded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2918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0">
                <a:solidFill>
                  <a:srgbClr val="64748B"/>
                </a:solidFill>
              </a:rPr>
              <a:t>11.3%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4069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</a:rPr>
              <a:t>of in-scope students later withdraw (test)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32918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0">
                <a:solidFill>
                  <a:srgbClr val="64748B"/>
                </a:solidFill>
              </a:rPr>
              <a:t>35%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4069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</a:rPr>
              <a:t>later fail or withdraw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3000"/>
            <a:ext cx="7589520" cy="52750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371600"/>
            <a:ext cx="374903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</a:rPr>
              <a:t>Offline build: features → calibrated models → prioritiser → historical-case index → evaluation and quality gate.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</a:rPr>
              <a:t>Online: API (auth, rate limit, strict validation) → service (real snapshots, what-if with imputation flags) → agent workflow.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</a:rPr>
              <a:t>LLM is optional and narrates only; facts, scores, priorities and eligible actions are computed in code.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</a:rPr>
              <a:t>Feedback store and loop (amber) feed approved changes back into actions, retrieval weights and calibration.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Honest evaluation: removing the leakage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5486400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</a:rPr>
              <a:t>75% of test-presentation withdrawals had already happened by the snapshot.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</a:rPr>
              <a:t>Temporal protocol: train on earlier presentations, calibrate out-of-fold by presentation, test once on the latest.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</a:rPr>
              <a:t>Missing scores stay missing; zero-activity weeks count; peer-relative percentiles make modules comparable.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</a:rPr>
              <a:t>Sensitive attributes are excluded from the model — the ablation shows they add essentially nothing.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Withdrawal risk: calibrated and useful at advisor capacity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548640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3716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0">
                <a:solidFill>
                  <a:srgbClr val="0F766E"/>
                </a:solidFill>
              </a:rPr>
              <a:t>0.726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148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</a:rPr>
              <a:t>ROC-AUC (95% CI 0.708–0.740); logistic baseline 0.703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13716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0">
                <a:solidFill>
                  <a:srgbClr val="0F766E"/>
                </a:solidFill>
              </a:rPr>
              <a:t>0.009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2148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</a:rPr>
              <a:t>calibration error (ECE)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2918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0">
                <a:solidFill>
                  <a:srgbClr val="0F766E"/>
                </a:solidFill>
              </a:rPr>
              <a:t>2.6×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069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</a:rPr>
              <a:t>lift when contacting the top 10%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32918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0">
                <a:solidFill>
                  <a:srgbClr val="0F766E"/>
                </a:solidFill>
              </a:rPr>
              <a:t>44%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4069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</a:rPr>
              <a:t>of eventual withdrawals reached at 20% capacity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How early can we tell?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6766560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8096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</a:rPr>
              <a:t>Later points see more evidence but fewer students remain to help.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</a:rPr>
              <a:t>Week 6: 27,157 still enrolled; week 22: 23,926.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</a:rPr>
              <a:t>The console's course clock switches every view between these points.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What is associated with failing or withdrawing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7498079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2104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F2A44"/>
                </a:solidFill>
              </a:rPr>
              <a:t>Engagement trends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A44"/>
                </a:solidFill>
              </a:rPr>
              <a:t>Week at which eventual withdrawers fall below 60% of passers' activity: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A44"/>
                </a:solidFill>
              </a:rPr>
              <a:t>AAA: week 22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A44"/>
                </a:solidFill>
              </a:rPr>
              <a:t>BBB: week 9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A44"/>
                </a:solidFill>
              </a:rPr>
              <a:t>CCC: week 5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A44"/>
                </a:solidFill>
              </a:rPr>
              <a:t>DDD: week 5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A44"/>
                </a:solidFill>
              </a:rPr>
              <a:t>EEE: week 6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A44"/>
                </a:solidFill>
              </a:rPr>
              <a:t>FFF: week 8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A44"/>
                </a:solidFill>
              </a:rPr>
              <a:t>GGG: week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Similar historical students — retrieval that beats chance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6949440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863840" y="14630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</a:rPr>
              <a:t>Metadata filters: module, presentation, region, education, age band, credits (range), previous attempts, outcome.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</a:rPr>
              <a:t>Each answer reports the outcome mix of the 50 nearest precedents with a 95% CI.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</a:rPr>
              <a:t>v4's index shipped with 2 test records and scored at random level.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Who first? Prioritisation learned for limited capacity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6949440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863840" y="14630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</a:rPr>
              <a:t>Learned weights: p_withdraw 0.10, p_poor 0.75, academic_gap 0.05, engagement_gap 0.05, missed_work 0.05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</a:rPr>
              <a:t>Signals are cohort-relative so a click means the same in every module.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</a:rPr>
              <a:t>Every ranked student carries reason codes and top risk drivers.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Agents that cannot make things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</a:rPr>
              <a:t>Performance → Risk → Router → Intervention ⇄ Critic, or Monitoring for low-risk students.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</a:rPr>
              <a:t>Facts are computed in code; the LLM only narrates and must cite observation IDs.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</a:rPr>
              <a:t>Critic checks: catalogue eligibility, numeric grounding, protected attributes, punitive or clinical language, and no risk scores in messages to students.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</a:rPr>
              <a:t>Sensitive attributes are never sent to the LLM; priorities come from calibrated models, not the LLM.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</a:rPr>
              <a:t>Copilot answers through 8 tools and must back every number with a tool result; search, precedent summaries, briefings and outreach rewrites follow the same checks.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</a:rPr>
              <a:t>Each AI feature has its own offline evaluation; LLM-as-Judge uses a separate model and verdicts are computed in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14630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0">
                <a:solidFill>
                  <a:srgbClr val="0F766E"/>
                </a:solidFill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2240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</a:rPr>
              <a:t>of 24 golden-set plans pass every guardrail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32918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0">
                <a:solidFill>
                  <a:srgbClr val="64748B"/>
                </a:solidFill>
              </a:rPr>
              <a:t>96%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4069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</a:rPr>
              <a:t>LLM-judge pass rate (python -m ssa.cli llm-eval)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The advisor console</a:t>
            </a:r>
          </a:p>
        </p:txBody>
      </p:sp>
      <p:pic>
        <p:nvPicPr>
          <p:cNvPr id="3" name="Picture 2" descr="_deck_stud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8709352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26880" y="1371600"/>
            <a:ext cx="2560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F2A44"/>
                </a:solidFill>
              </a:rPr>
              <a:t>Course clock across the top: every view is as of one point in the course.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A44"/>
                </a:solidFill>
              </a:rPr>
              <a:t>Computed facts in ink; AI-drafted text marked in indigo.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A44"/>
                </a:solidFill>
              </a:rPr>
              <a:t>Copilot, case finder, insights, model quality and the feedback loop use the same API.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Fairness and limits — stated, not hidden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6949440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863840" y="14630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</a:rPr>
              <a:t>Sensitive attributes are excluded from the model and from agent prompts, yet gaps persist through proxies and base-rate differences.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</a:rPr>
              <a:t>The quality gate warns above 0.15; deployment needs equity review.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</a:rPr>
              <a:t>One institution, 2013–14 data: revalidate before use elsewhere.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Closing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E2E8F0"/>
                </a:solidFill>
              </a:rPr>
              <a:t>Advisors rate plans, individual actions and individual precedents, and later record real outcomes.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2E8F0"/>
                </a:solidFill>
              </a:rPr>
              <a:t>Learners re-rank actions (Beta-Binomial), re-learn retrieval fusion weights, and recalibrate risk when enough outcomes exist.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2E8F0"/>
                </a:solidFill>
              </a:rPr>
              <a:t>Changes are proposals until approved with --apply; drift monitors flag tier precision changes and retraining needs.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2E8F0"/>
                </a:solidFill>
              </a:rPr>
              <a:t>Everything in this deck is regenerated from artifacts: python -m ssa.cli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