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Same model, two populations (test presentation)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Sheet1!$A$2:$A$3</c:f>
              <c:strCache>
                <c:ptCount val="2"/>
                <c:pt idx="0">
                  <c:v>All enrolments (incl. already left)</c:v>
                </c:pt>
                <c:pt idx="1">
                  <c:v>Still enrolled (valid)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0.7493848462743269</c:v>
                </c:pt>
                <c:pt idx="1">
                  <c:v>0.7255685308195328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Observed withdrawal rate by risk tier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withdrawal rate</c:v>
                </c:pt>
              </c:strCache>
            </c:strRef>
          </c:tx>
          <c:spPr>
            <a:solidFill>
              <a:srgbClr val="B91C1C"/>
            </a:solidFill>
          </c:spPr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0.23588205897051473</c:v>
                </c:pt>
                <c:pt idx="1">
                  <c:v>0.11739502999143102</c:v>
                </c:pt>
                <c:pt idx="2">
                  <c:v>0.0487382483918852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Withdrawal model by course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Sheet1!$A$2:$A$5</c:f>
              <c:strCache>
                <c:ptCount val="4"/>
                <c:pt idx="0">
                  <c:v>week 5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0.6861329556239586</c:v>
                </c:pt>
                <c:pt idx="1">
                  <c:v>0.7003070619008248</c:v>
                </c:pt>
                <c:pt idx="2">
                  <c:v>0.7255685308195328</c:v>
                </c:pt>
                <c:pt idx="3">
                  <c:v>0.773455500635073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PR-AUC</c:v>
                </c:pt>
              </c:strCache>
            </c:strRef>
          </c:tx>
          <c:spPr>
            <a:solidFill>
              <a:srgbClr val="4C4BC2"/>
            </a:solidFill>
          </c:spPr>
          <c:cat>
            <c:strRef>
              <c:f>Sheet1!$A$2:$A$5</c:f>
              <c:strCache>
                <c:ptCount val="4"/>
                <c:pt idx="0">
                  <c:v>week 5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0.31596324382933005</c:v>
                </c:pt>
                <c:pt idx="1">
                  <c:v>0.2893076585124664</c:v>
                </c:pt>
                <c:pt idx="2">
                  <c:v>0.26301911267610545</c:v>
                </c:pt>
                <c:pt idx="3">
                  <c:v>0.1759725473938002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Base rate</c:v>
                </c:pt>
              </c:strCache>
            </c:strRef>
          </c:tx>
          <c:spPr>
            <a:solidFill>
              <a:srgbClr val="9AA2B1"/>
            </a:solidFill>
          </c:spPr>
          <c:cat>
            <c:strRef>
              <c:f>Sheet1!$A$2:$A$5</c:f>
              <c:strCache>
                <c:ptCount val="4"/>
                <c:pt idx="0">
                  <c:v>week 5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0.1791077738515901</c:v>
                </c:pt>
                <c:pt idx="1">
                  <c:v>0.1500114337983078</c:v>
                </c:pt>
                <c:pt idx="2">
                  <c:v>0.11257013250567029</c:v>
                </c:pt>
                <c:pt idx="3">
                  <c:v>0.05815279361459521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Gap in fail/withdraw rate between best and worst quintile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Spread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Sheet1!$A$2:$A$8</c:f>
              <c:strCache>
                <c:ptCount val="7"/>
                <c:pt idx="0">
                  <c:v>Inactive weeks (last 3)</c:v>
                </c:pt>
                <c:pt idx="1">
                  <c:v>Active-days percentile in cohort</c:v>
                </c:pt>
                <c:pt idx="2">
                  <c:v>Days since last VLE activity</c:v>
                </c:pt>
                <c:pt idx="3">
                  <c:v>Missed-assessment percentile in cohort</c:v>
                </c:pt>
                <c:pt idx="4">
                  <c:v>Tutor-marked assignments missed</c:v>
                </c:pt>
                <c:pt idx="5">
                  <c:v>Missed assessments</c:v>
                </c:pt>
                <c:pt idx="6">
                  <c:v>Share of due assessments missed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0.6253116780955257</c:v>
                </c:pt>
                <c:pt idx="1">
                  <c:v>0.6476530005941771</c:v>
                </c:pt>
                <c:pt idx="2">
                  <c:v>0.6497326203208555</c:v>
                </c:pt>
                <c:pt idx="3">
                  <c:v>0.6799657266661898</c:v>
                </c:pt>
                <c:pt idx="4">
                  <c:v>0.6856803327391563</c:v>
                </c:pt>
                <c:pt idx="5">
                  <c:v>0.7002376708259062</c:v>
                </c:pt>
                <c:pt idx="6">
                  <c:v>0.7061794414735592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Do retrieved precedents predict the real outcome?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Neighbour-vote 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Sheet1!$A$2:$A$6</c:f>
              <c:strCache>
                <c:ptCount val="5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dense</c:v>
                </c:pt>
                <c:pt idx="4">
                  <c:v>random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0.8349760765550238</c:v>
                </c:pt>
                <c:pt idx="1">
                  <c:v>0.8292404306220096</c:v>
                </c:pt>
                <c:pt idx="2">
                  <c:v>0.8364712918660288</c:v>
                </c:pt>
                <c:pt idx="3">
                  <c:v>0.8304844497607655</c:v>
                </c:pt>
                <c:pt idx="4">
                  <c:v>0.5120334928229665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Sheet1!$A$2:$A$6</c:f>
              <c:strCache>
                <c:ptCount val="5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dense</c:v>
                </c:pt>
                <c:pt idx="4">
                  <c:v>random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0.8661044770467098</c:v>
                </c:pt>
                <c:pt idx="1">
                  <c:v>0.8703634727791237</c:v>
                </c:pt>
                <c:pt idx="2">
                  <c:v>0.7541412072228056</c:v>
                </c:pt>
                <c:pt idx="3">
                  <c:v>0.7320736152594541</c:v>
                </c:pt>
                <c:pt idx="4">
                  <c:v>0.5441068784899428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Share of contacted students who went on to fail or withdraw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 @10%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0.9785202863961814</c:v>
                </c:pt>
                <c:pt idx="1">
                  <c:v>0.8448687350835322</c:v>
                </c:pt>
                <c:pt idx="2">
                  <c:v>0.7804295942720764</c:v>
                </c:pt>
                <c:pt idx="3">
                  <c:v>0.3436754176610978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Precision @20%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0.8543283582089553</c:v>
                </c:pt>
                <c:pt idx="1">
                  <c:v>0.7534328358208955</c:v>
                </c:pt>
                <c:pt idx="2">
                  <c:v>0.7026865671641791</c:v>
                </c:pt>
                <c:pt idx="3">
                  <c:v>0.35880597014925375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Claude tiers on the same tasks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Search filter F1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Sheet1!$A$2:$A$4</c:f>
              <c:strCache>
                <c:ptCount val="3"/>
                <c:pt idx="0">
                  <c:v>haiku</c:v>
                </c:pt>
                <c:pt idx="1">
                  <c:v>sonnet</c:v>
                </c:pt>
                <c:pt idx="2">
                  <c:v>opus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0.8903</c:v>
                </c:pt>
                <c:pt idx="1">
                  <c:v>0.8774</c:v>
                </c:pt>
                <c:pt idx="2">
                  <c:v>0.8758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Synthesis judge pass</c:v>
                </c:pt>
              </c:strCache>
            </c:strRef>
          </c:tx>
          <c:spPr>
            <a:solidFill>
              <a:srgbClr val="4C4BC2"/>
            </a:solidFill>
          </c:spPr>
          <c:cat>
            <c:strRef>
              <c:f>Sheet1!$A$2:$A$4</c:f>
              <c:strCache>
                <c:ptCount val="3"/>
                <c:pt idx="0">
                  <c:v>haiku</c:v>
                </c:pt>
                <c:pt idx="1">
                  <c:v>sonnet</c:v>
                </c:pt>
                <c:pt idx="2">
                  <c:v>opus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0.375</c:v>
                </c:pt>
                <c:pt idx="1">
                  <c:v>1.0</c:v>
                </c:pt>
                <c:pt idx="2">
                  <c:v>0.7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Embedding models on the same narratives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Typed search P@10 (dense)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Sheet1!$A$2:$A$6</c:f>
              <c:strCache>
                <c:ptCount val="5"/>
                <c:pt idx="0">
                  <c:v>MiniLM-L6-v2</c:v>
                </c:pt>
                <c:pt idx="1">
                  <c:v>mpnet-base-v2</c:v>
                </c:pt>
                <c:pt idx="2">
                  <c:v>bge-small</c:v>
                </c:pt>
                <c:pt idx="3">
                  <c:v>e5-smv2</c:v>
                </c:pt>
                <c:pt idx="4">
                  <c:v>gte-small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0.714375</c:v>
                </c:pt>
                <c:pt idx="1">
                  <c:v>0.6693749999999999</c:v>
                </c:pt>
                <c:pt idx="2">
                  <c:v>0.771875</c:v>
                </c:pt>
                <c:pt idx="3">
                  <c:v>0.8018750000000001</c:v>
                </c:pt>
                <c:pt idx="4">
                  <c:v>0.806875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Precedent vote-AUC (dense)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Sheet1!$A$2:$A$6</c:f>
              <c:strCache>
                <c:ptCount val="5"/>
                <c:pt idx="0">
                  <c:v>MiniLM-L6-v2</c:v>
                </c:pt>
                <c:pt idx="1">
                  <c:v>mpnet-base-v2</c:v>
                </c:pt>
                <c:pt idx="2">
                  <c:v>bge-small</c:v>
                </c:pt>
                <c:pt idx="3">
                  <c:v>e5-smv2</c:v>
                </c:pt>
                <c:pt idx="4">
                  <c:v>gte-small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0.7496673402000888</c:v>
                </c:pt>
                <c:pt idx="1">
                  <c:v>0.7301512986052929</c:v>
                </c:pt>
                <c:pt idx="2">
                  <c:v>0.7771918584594155</c:v>
                </c:pt>
                <c:pt idx="3">
                  <c:v>0.8315016509782662</c:v>
                </c:pt>
                <c:pt idx="4">
                  <c:v>0.7691833817948843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RAGAS on the retrieval-augmented features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RAGAS faithfulness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Sheet1!$A$2:$A$3</c:f>
              <c:strCache>
                <c:ptCount val="2"/>
                <c:pt idx="0">
                  <c:v>copilot</c:v>
                </c:pt>
                <c:pt idx="1">
                  <c:v>precedent_synthesis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0.8335</c:v>
                </c:pt>
                <c:pt idx="1">
                  <c:v>0.9644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Context relevance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Sheet1!$A$2:$A$3</c:f>
              <c:strCache>
                <c:ptCount val="2"/>
                <c:pt idx="0">
                  <c:v>copilot</c:v>
                </c:pt>
                <c:pt idx="1">
                  <c:v>precedent_synthesis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</c:v>
                </c:pt>
                <c:pt idx="1">
                  <c:v>1.0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Difference in true-positive rate between groups (High tier)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Equal-opportunity gap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Sheet1!$A$2:$A$7</c:f>
              <c:strCache>
                <c:ptCount val="6"/>
                <c:pt idx="0">
                  <c:v>gender</c:v>
                </c:pt>
                <c:pt idx="1">
                  <c:v>region</c:v>
                </c:pt>
                <c:pt idx="2">
                  <c:v>highest_education</c:v>
                </c:pt>
                <c:pt idx="3">
                  <c:v>imd_band</c:v>
                </c:pt>
                <c:pt idx="4">
                  <c:v>age_band</c:v>
                </c:pt>
                <c:pt idx="5">
                  <c:v>disability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0.08185386949783308</c:v>
                </c:pt>
                <c:pt idx="1">
                  <c:v>0.26456876456876455</c:v>
                </c:pt>
                <c:pt idx="2">
                  <c:v>0.04301468100940392</c:v>
                </c:pt>
                <c:pt idx="3">
                  <c:v>0.1949308755760369</c:v>
                </c:pt>
                <c:pt idx="4">
                  <c:v>0.04795587419451197</c:v>
                </c:pt>
                <c:pt idx="5">
                  <c:v>0.23212560386473435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Ten-minute walkthrough: the problem, how the system works, honest evidence, and how it stays safe and improves.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 around the advisor at week 15: who still enrolled needs help, why, and what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Offline build produces calibrated models, the case index and evaluation; the online API serves lookups, scores, retrieval and the agent workflow; feedback closes the loop with human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 trained and tested on students who had already left, so silence in the logs 'predicted' withdrawal. We score only students still enrolled, on a later, untouched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ROC-AUC with CI, the logistic baseline, calibration, and that tiers really separate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 calibrated models at four points in the course; each is tested on the later, untouched presentation using only what was known at that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Factor analysis on historical in-scope students; associations not causes. TreeSHAP gives per-student drivers.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Behavioural kNN weighted by model attributions + BM25 over qualitative descriptors + dense narrative embeddings, fused with RRF; vectors live in LanceDB with metadata filters pushed down. Only earlier presentations are searchable. Evaluated against real outcomes and a random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Weights chosen on the validation presentation to maximise precision at 10/20/30% capacity; compared 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Agents select and narrate ID-tagged evidence; actions come from an eligibility-gated catalogue; the critic enforces guardrails in code with one revision, else a deterministic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console served by the FastAPI service. Walk through: course clock, why flagged, risk across the course, live agent plan, outreach rewriting, precedents with what happened next,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features ran on Haiku, Sonnet and Opus with identical prompts and checks; five embedding models encoded the same case narratives. Production choices follow the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 checks on every output; LLM-as-judge with anchored rubrics and order-swapped A/B; DeepEval; RAGAS on the retrieval-augmented features; blind human review in the console to check the judge.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Gaps remain via proxies; they are flagged by the gate and need institutional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Feedback becomes versioned, human-approved changes; then re-evaluate.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Uplift: an AI-powered Student Success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Early warning, comparable historical cases and supportive action plans for advisors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OULAD · 32,593 enrolments · evidence profile: official · quality gate passed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question an advisor actually 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At ~40% of the course, which students who are still enrolled are likely to fail or withdraw?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Why — in terms an advisor can act on?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Have students with similar patterns struggled before?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What supportive, non-punitive action should we take, and who first given limited capacity?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25,204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students still enrolled at the snapshot (in 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B45309"/>
                </a:solidFill>
              </a:rPr>
              <a:t>7,389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had already unregistered — excluded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11.3%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in-scope students later withdraw (test)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35%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later fail or withdraw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7589520" cy="48164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37160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Offline build: features → calibrated models → prioritiser → case index in a LanceDB vector store → evaluation and gate.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Online: one FastAPI service (auth, rate limit, strict validation, streaming) → service layer → LangGraph agent workflow.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Claude by task: Haiku parses, Sonnet writes, Opus judges. The LLM narrates only; facts, scores, priorities and eligible actions are computed in code, and everything works with the LLM off.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Feedback store and loop (amber) feed approved changes back into actions, retrieval weights and calibration.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Honest evaluation: removing the leakage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75% of test-presentation withdrawals had already happened by the snapshot.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Temporal protocol: train on earlier presentations, calibrate out-of-fold by presentation, test once on the latest.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Missing scores stay missing; zero-activity weeks count; peer-relative percentiles make modules comparable.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Sensitive attributes are excluded from the model — the ablation shows they add essentially nothing.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Withdrawal risk: calibrated and useful at advisor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836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0.726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ROC-AUC (95% CI 0.708–0.740); logistic baseline 0.703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0.009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calibration error (ECE)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lift when contacting the top 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44%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eventual withdrawals reached at 20% capacity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How early can we tell?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76656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68096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Later points see more evidence but fewer students remain to help.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Week 5: 27,157 still enrolled; week 22: 23,926.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The console's course clock switches every view between these points.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What is associated with failing or withdrawing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7498079" cy="5120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32104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F2A44"/>
                </a:solidFill>
              </a:rPr>
              <a:t>Engagement trends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Week at which eventual withdrawers fall below 60% of passers' activity: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AAA: week 22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BBB: week 9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CCC: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DDD: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EEE: week 6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FFF: week 8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GGG: week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Similar historical students — retrieval that beats chance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Vector database (LanceDB): filters on module, presentation, region, education, age band, credits (range), previous attempts and outcome run before an exact nearest-neighbour search.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One document per enrolment; 6 precedent stories go to the agents, the outcome mix uses the 50 nearest with a 95% CI (top-K study in the model card).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v4's index shipped with 2 test records and scored at random level.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Who first? Prioritisation learned for limited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Learned weights: p_withdraw 0.10, p_poor 0.75, academic_gap 0.05, engagement_gap 0.05, missed_work 0.05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Signals are cohort-relative so a click means the same in every module.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Every ranked student carries reason codes and top risk drivers.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Agents that cannot make things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A LangGraph state graph: Performance → Risk → Router → Intervention ⇄ Critic, or a deterministic plan.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Facts are computed in code; the LLM only narrates and must cite observation IDs.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Critic checks: catalogue eligibility, numeric grounding, protected attributes, punitive or clinical language, and no risk scores in messages to students.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Sensitive attributes are never sent to the LLM; priorities come from calibrated models, not the LLM.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Copilot answers through 8 tools and must back every number with a tool result; search, precedent summaries, briefings and outreach rewrites follow the same checks.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Each AI feature has its own offline evaluation; LLM-as-Judge uses a separate model and verdicts are computed in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24 golden-set plans pass every guardrail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96%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LLM-judge pass rate (python -m ssa.cli llm-eval)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advisor console</a:t>
            </a:r>
          </a:p>
        </p:txBody>
      </p:sp>
      <p:pic>
        <p:nvPicPr>
          <p:cNvPr id="3" name="Picture 2" descr="_deck_stud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8709352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37160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Course clock across the top: every view is as of one point in the course.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Computed facts in ink; AI-drafted text marked in indigo.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Copilot, case finder, insights, model quality and the feedback loop use the same API.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Choosing the models: measured, not assumed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2468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309360" y="137160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Cost per call: haiku $0.0003 (search) / $0.0008 (synthesis), sonnet $0.0053 (search) / $0.0095 (synthesis), opus $0.0109 (search) / $0.0208 (synthesis)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Production: claude-haiku-5-5 parses, claude-sonnet-5-5 writes, claude-opus-5-5 judges (never its own output).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3931920"/>
          <a:ext cx="5486400" cy="25603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309360" y="402336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Encoding speed 9–77 docs/s on CPU; index 37–74 MB.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In production: intfloat/e5-small-v2 (full table in the model card).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Evaluating the AI: five layers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85216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67512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1. Code checks on every output: cited IDs, numbers, protected, punitive, clinical and stigma terms.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2. LLM judge (separate model): 96% of plans pass; AI plan preferred in 89% of order-swapped comparisons.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3. DeepEval: faithfulness, relevancy and three rubric metrics.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4. RAGAS: copilot hallucination rate 16.7%; precedent_synthesis hallucination rate 3.6%.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5. Human review: advisors rate plans blind in the console; agreement with the judge (Cohen's kappa) is reported.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Fairness and limits — stated, not hidden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Sensitive attributes are excluded from the model and from agent prompts; each gap is tested against shuffled group labels, overall and within module.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gender: beyond chance overall, but explained by which modules the groups study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region: within chance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highest_education: within chance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imd_band: within chance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age_band: within chance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disability: beyond chance, also within modules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Per-group cut-offs are shown for equity review, never applied.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Closing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Advisors rate plans, individual actions and individual precedents, and later record real outcomes.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Learners re-rank actions (Beta-Binomial), re-learn retrieval fusion weights, and recalibrate risk when enough outcomes exist.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Changes are proposals until approved with --apply; drift monitors flag tier precision changes and retraining needs.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Everything in this deck is regenerated from artifacts: python -m ssa.cli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